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5BAD-F025-4175-809C-145B7DA94662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7744-095E-41A9-B3E3-0FA0316E8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745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5BAD-F025-4175-809C-145B7DA94662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7744-095E-41A9-B3E3-0FA0316E8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736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5BAD-F025-4175-809C-145B7DA94662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7744-095E-41A9-B3E3-0FA0316E8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41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5BAD-F025-4175-809C-145B7DA94662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7744-095E-41A9-B3E3-0FA0316E8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911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5BAD-F025-4175-809C-145B7DA94662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7744-095E-41A9-B3E3-0FA0316E8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617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5BAD-F025-4175-809C-145B7DA94662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7744-095E-41A9-B3E3-0FA0316E8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31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5BAD-F025-4175-809C-145B7DA94662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7744-095E-41A9-B3E3-0FA0316E8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85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5BAD-F025-4175-809C-145B7DA94662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7744-095E-41A9-B3E3-0FA0316E8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61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5BAD-F025-4175-809C-145B7DA94662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7744-095E-41A9-B3E3-0FA0316E8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10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5BAD-F025-4175-809C-145B7DA94662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7744-095E-41A9-B3E3-0FA0316E8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12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65BAD-F025-4175-809C-145B7DA94662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7744-095E-41A9-B3E3-0FA0316E8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258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65BAD-F025-4175-809C-145B7DA94662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97744-095E-41A9-B3E3-0FA0316E8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38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11" y="915671"/>
            <a:ext cx="11400453" cy="49687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24405" y="363458"/>
            <a:ext cx="4561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DELETE 1</a:t>
            </a:r>
            <a:r>
              <a:rPr lang="en-GB" sz="2400" baseline="30000" dirty="0" smtClean="0"/>
              <a:t>ST</a:t>
            </a:r>
            <a:r>
              <a:rPr lang="en-GB" sz="2400" dirty="0" smtClean="0"/>
              <a:t> COLUMN &amp; ROW</a:t>
            </a:r>
            <a:endParaRPr lang="en-IN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496645" y="363458"/>
            <a:ext cx="2829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STEP 1: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9512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>
            <a:normAutofit/>
          </a:bodyPr>
          <a:lstStyle/>
          <a:p>
            <a:r>
              <a:rPr lang="en-GB" sz="2400" b="1" dirty="0" smtClean="0"/>
              <a:t>Step 2: Apply filter &amp; in Product (select HRPO/HRSPO/NGOFP)</a:t>
            </a:r>
            <a:endParaRPr lang="en-IN" sz="24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4261" y="1075765"/>
            <a:ext cx="10688987" cy="4937759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8390965" y="1161826"/>
            <a:ext cx="1097280" cy="8713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25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7760"/>
          </a:xfrm>
        </p:spPr>
        <p:txBody>
          <a:bodyPr>
            <a:normAutofit/>
          </a:bodyPr>
          <a:lstStyle/>
          <a:p>
            <a:r>
              <a:rPr lang="en-GB" sz="2400" b="1" dirty="0" smtClean="0"/>
              <a:t>Step 3: Select Act Path &amp; </a:t>
            </a:r>
            <a:r>
              <a:rPr lang="en-GB" sz="2400" b="1" dirty="0" err="1" smtClean="0"/>
              <a:t>Prev</a:t>
            </a:r>
            <a:r>
              <a:rPr lang="en-GB" sz="2400" b="1" dirty="0" smtClean="0"/>
              <a:t> Unit</a:t>
            </a:r>
            <a:endParaRPr lang="en-IN" sz="24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00114"/>
            <a:ext cx="10515600" cy="18717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4478" b="27884"/>
          <a:stretch/>
        </p:blipFill>
        <p:spPr>
          <a:xfrm>
            <a:off x="7145017" y="3256018"/>
            <a:ext cx="4272983" cy="3046049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970005" y="2842930"/>
            <a:ext cx="10515600" cy="527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 smtClean="0"/>
              <a:t>Step 4: Select only zero</a:t>
            </a:r>
            <a:endParaRPr lang="en-IN" sz="2400" b="1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959737" y="3803784"/>
            <a:ext cx="903643" cy="819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0103224" y="73062"/>
            <a:ext cx="903643" cy="819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410" y="3256018"/>
            <a:ext cx="3246969" cy="302125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5038166" y="3803784"/>
            <a:ext cx="903643" cy="819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8647791" y="4000877"/>
            <a:ext cx="903643" cy="819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01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9124"/>
          </a:xfrm>
        </p:spPr>
        <p:txBody>
          <a:bodyPr>
            <a:normAutofit/>
          </a:bodyPr>
          <a:lstStyle/>
          <a:p>
            <a:r>
              <a:rPr lang="en-GB" sz="2400" b="1" dirty="0" smtClean="0"/>
              <a:t>Step 5: Copy the Data &amp; paste in Plan sheet</a:t>
            </a:r>
            <a:endParaRPr lang="en-IN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12" y="1054250"/>
            <a:ext cx="11803344" cy="5335791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2657140" y="6325496"/>
            <a:ext cx="806822" cy="139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3463962" y="6347011"/>
            <a:ext cx="1649751" cy="344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b="1" dirty="0" smtClean="0"/>
              <a:t>Planning sheet</a:t>
            </a:r>
            <a:endParaRPr lang="en-IN" sz="1800" b="1" dirty="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288212" y="6395420"/>
            <a:ext cx="1649751" cy="344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b="1" dirty="0" smtClean="0"/>
              <a:t>Main sheet</a:t>
            </a:r>
            <a:endParaRPr lang="en-IN" sz="1800" b="1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666974" y="6234951"/>
            <a:ext cx="658011" cy="1550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61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32" y="739874"/>
            <a:ext cx="11021867" cy="58111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229" y="152605"/>
            <a:ext cx="10515600" cy="550433"/>
          </a:xfrm>
        </p:spPr>
        <p:txBody>
          <a:bodyPr>
            <a:normAutofit/>
          </a:bodyPr>
          <a:lstStyle/>
          <a:p>
            <a:r>
              <a:rPr lang="en-GB" sz="2400" b="1" dirty="0" smtClean="0"/>
              <a:t>Step 6: Delete all unwanted columns </a:t>
            </a:r>
            <a:endParaRPr lang="en-IN" sz="2400" b="1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427257" y="284648"/>
            <a:ext cx="3706906" cy="418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 smtClean="0"/>
              <a:t>Required Columns for scheduling</a:t>
            </a:r>
            <a:endParaRPr lang="en-IN" sz="2000" b="1" dirty="0"/>
          </a:p>
        </p:txBody>
      </p:sp>
      <p:cxnSp>
        <p:nvCxnSpPr>
          <p:cNvPr id="10" name="Straight Arrow Connector 9"/>
          <p:cNvCxnSpPr>
            <a:stCxn id="8" idx="1"/>
          </p:cNvCxnSpPr>
          <p:nvPr/>
        </p:nvCxnSpPr>
        <p:spPr>
          <a:xfrm flipH="1">
            <a:off x="6336253" y="493843"/>
            <a:ext cx="1091004" cy="359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26229" y="673744"/>
            <a:ext cx="11399071" cy="5473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058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9919" y="1872159"/>
            <a:ext cx="2772162" cy="42582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663" y="1485442"/>
            <a:ext cx="3972139" cy="3133303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80272" y="499945"/>
            <a:ext cx="4312919" cy="57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 smtClean="0"/>
              <a:t>Step 7: Select Status &amp; filter TD &amp; TU</a:t>
            </a:r>
            <a:endParaRPr lang="en-IN" sz="2400" b="1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615679" y="2893807"/>
            <a:ext cx="2728221" cy="14629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8343900" y="2684612"/>
            <a:ext cx="3706906" cy="418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 smtClean="0"/>
              <a:t>Select TD &amp; TU, remove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8653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397"/>
          </a:xfrm>
        </p:spPr>
        <p:txBody>
          <a:bodyPr>
            <a:normAutofit/>
          </a:bodyPr>
          <a:lstStyle/>
          <a:p>
            <a:r>
              <a:rPr lang="en-GB" sz="2400" b="1" dirty="0" smtClean="0"/>
              <a:t>Step 8: Only TA &amp; TW</a:t>
            </a:r>
            <a:endParaRPr lang="en-IN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32" y="1086522"/>
            <a:ext cx="10932967" cy="547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9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9234" y="6049963"/>
            <a:ext cx="7342766" cy="533400"/>
          </a:xfrm>
        </p:spPr>
        <p:txBody>
          <a:bodyPr>
            <a:normAutofit/>
          </a:bodyPr>
          <a:lstStyle/>
          <a:p>
            <a:r>
              <a:rPr lang="en-GB" sz="2400" b="1" dirty="0" smtClean="0"/>
              <a:t>Delete these selected rows, from order status column</a:t>
            </a:r>
            <a:endParaRPr lang="en-IN" sz="24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934" y="1117600"/>
            <a:ext cx="11358131" cy="4805363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11353800" y="457200"/>
            <a:ext cx="571500" cy="8148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569334" y="609600"/>
            <a:ext cx="105156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 smtClean="0"/>
              <a:t>Step 9: From order status column, delete all closed</a:t>
            </a:r>
            <a:endParaRPr lang="en-IN" sz="2400" b="1" dirty="0"/>
          </a:p>
        </p:txBody>
      </p:sp>
      <p:cxnSp>
        <p:nvCxnSpPr>
          <p:cNvPr id="8" name="Straight Arrow Connector 7"/>
          <p:cNvCxnSpPr>
            <a:endCxn id="2" idx="1"/>
          </p:cNvCxnSpPr>
          <p:nvPr/>
        </p:nvCxnSpPr>
        <p:spPr>
          <a:xfrm>
            <a:off x="228600" y="6316663"/>
            <a:ext cx="20806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28600" y="2311400"/>
            <a:ext cx="0" cy="40052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228600" y="2311400"/>
            <a:ext cx="18833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78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63" y="500412"/>
            <a:ext cx="9998637" cy="678073"/>
          </a:xfrm>
        </p:spPr>
        <p:txBody>
          <a:bodyPr>
            <a:normAutofit/>
          </a:bodyPr>
          <a:lstStyle/>
          <a:p>
            <a:r>
              <a:rPr lang="en-GB" sz="2400" b="1" dirty="0"/>
              <a:t>Step 10: From Receiving remarks, Select drop down arrow &amp; select only APL7</a:t>
            </a:r>
            <a:endParaRPr lang="en-IN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0" y="1538287"/>
            <a:ext cx="4117718" cy="39481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1508492"/>
            <a:ext cx="4000500" cy="3977908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stCxn id="6" idx="3"/>
          </p:cNvCxnSpPr>
          <p:nvPr/>
        </p:nvCxnSpPr>
        <p:spPr>
          <a:xfrm flipH="1">
            <a:off x="8498317" y="3497446"/>
            <a:ext cx="2245883" cy="5631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/>
          </p:cNvSpPr>
          <p:nvPr/>
        </p:nvSpPr>
        <p:spPr>
          <a:xfrm>
            <a:off x="5425818" y="2729631"/>
            <a:ext cx="1148859" cy="1523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 smtClean="0"/>
              <a:t>Scroll down to find APL7</a:t>
            </a:r>
            <a:endParaRPr lang="en-IN" sz="2000" b="1" dirty="0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0744200" y="3026746"/>
            <a:ext cx="1447800" cy="971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 smtClean="0"/>
              <a:t>Select only APL7 </a:t>
            </a:r>
            <a:endParaRPr lang="en-IN" sz="2000" b="1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4462636" y="3390900"/>
            <a:ext cx="1056020" cy="3275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32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159500" cy="676275"/>
          </a:xfrm>
        </p:spPr>
        <p:txBody>
          <a:bodyPr>
            <a:normAutofit/>
          </a:bodyPr>
          <a:lstStyle/>
          <a:p>
            <a:r>
              <a:rPr lang="en-GB" sz="2400" b="1" dirty="0" smtClean="0"/>
              <a:t>Step 11: Copy &amp; paste in a separate excel sheet</a:t>
            </a:r>
            <a:endParaRPr lang="en-IN" sz="24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95388"/>
            <a:ext cx="10477500" cy="466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0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362700" cy="688975"/>
          </a:xfrm>
        </p:spPr>
        <p:txBody>
          <a:bodyPr>
            <a:normAutofit/>
          </a:bodyPr>
          <a:lstStyle/>
          <a:p>
            <a:r>
              <a:rPr lang="en-GB" sz="2400" b="1" dirty="0" smtClean="0"/>
              <a:t>Step 12: Paste the Copied APL7 list in APL7 sheet</a:t>
            </a:r>
            <a:endParaRPr lang="en-IN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8400"/>
            <a:ext cx="10680700" cy="517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0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549900" cy="777875"/>
          </a:xfrm>
        </p:spPr>
        <p:txBody>
          <a:bodyPr>
            <a:noAutofit/>
          </a:bodyPr>
          <a:lstStyle/>
          <a:p>
            <a:r>
              <a:rPr lang="en-GB" sz="2400" b="1" dirty="0" smtClean="0"/>
              <a:t>Step 13: Delete the APL7 list in PLAN sheet</a:t>
            </a:r>
            <a:endParaRPr lang="en-IN" sz="2400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43000"/>
            <a:ext cx="9702800" cy="5131047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5397500" y="3497446"/>
            <a:ext cx="5346701" cy="15825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0744200" y="3026746"/>
            <a:ext cx="1447800" cy="971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 smtClean="0"/>
              <a:t>Delete the APL7 rows</a:t>
            </a:r>
            <a:endParaRPr lang="en-IN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4749800" y="4991100"/>
            <a:ext cx="876300" cy="1905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82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810000" cy="650875"/>
          </a:xfrm>
        </p:spPr>
        <p:txBody>
          <a:bodyPr>
            <a:normAutofit/>
          </a:bodyPr>
          <a:lstStyle/>
          <a:p>
            <a:r>
              <a:rPr lang="en-GB" sz="2400" b="1" dirty="0" smtClean="0"/>
              <a:t>Step 14: Final Schedule data</a:t>
            </a:r>
            <a:endParaRPr lang="en-IN" sz="24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14425"/>
            <a:ext cx="10299699" cy="47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44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7111701" cy="701675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n-GB" b="1" dirty="0" smtClean="0"/>
              <a:t>Scheduling Rules 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3325"/>
            <a:ext cx="10515600" cy="5229748"/>
          </a:xfrm>
        </p:spPr>
        <p:txBody>
          <a:bodyPr>
            <a:normAutofit/>
          </a:bodyPr>
          <a:lstStyle/>
          <a:p>
            <a:r>
              <a:rPr lang="en-GB" sz="3200" b="1" dirty="0" smtClean="0"/>
              <a:t>For HRPO/HRSPO Product :</a:t>
            </a:r>
          </a:p>
          <a:p>
            <a:r>
              <a:rPr lang="en-GB" sz="2200" dirty="0" smtClean="0"/>
              <a:t>Thickness </a:t>
            </a:r>
            <a:r>
              <a:rPr lang="en-GB" sz="2200" dirty="0" smtClean="0"/>
              <a:t>Difference should be &lt;=1mm.(Thickness range of 2 to 6mm)</a:t>
            </a:r>
          </a:p>
          <a:p>
            <a:r>
              <a:rPr lang="en-GB" sz="2200" dirty="0" smtClean="0"/>
              <a:t>In Thinner gauge thickness difference should be 0.4mm(</a:t>
            </a:r>
            <a:r>
              <a:rPr lang="en-GB" sz="2200" dirty="0" err="1" smtClean="0"/>
              <a:t>i.e</a:t>
            </a:r>
            <a:r>
              <a:rPr lang="en-GB" sz="2200" dirty="0" smtClean="0"/>
              <a:t>, 1.6-2.0mm)</a:t>
            </a:r>
          </a:p>
          <a:p>
            <a:r>
              <a:rPr lang="en-GB" sz="2200" dirty="0" smtClean="0"/>
              <a:t>Width Difference should be less than 250 to 300mm( 2 to 6mm).</a:t>
            </a:r>
          </a:p>
          <a:p>
            <a:r>
              <a:rPr lang="en-GB" sz="2200" dirty="0" smtClean="0"/>
              <a:t>Above 4.5mm thickness critical TDC of </a:t>
            </a:r>
            <a:r>
              <a:rPr lang="en-IN" sz="2400" dirty="0" smtClean="0">
                <a:solidFill>
                  <a:srgbClr val="FF0000"/>
                </a:solidFill>
              </a:rPr>
              <a:t>JVPST01C00, JVPFB60AJS, JVPTR14AJS, JVPTR15AJS, JVPTR13AJS</a:t>
            </a:r>
            <a:r>
              <a:rPr lang="en-IN" sz="2400" dirty="0" smtClean="0"/>
              <a:t> </a:t>
            </a:r>
            <a:r>
              <a:rPr lang="en-GB" sz="2200" dirty="0" smtClean="0"/>
              <a:t>should NOT be planned continuously.</a:t>
            </a:r>
          </a:p>
          <a:p>
            <a:r>
              <a:rPr lang="en-GB" sz="2200" dirty="0" smtClean="0"/>
              <a:t>Width difference should be &lt;150mm in below 2.0mm coils.</a:t>
            </a:r>
          </a:p>
          <a:p>
            <a:r>
              <a:rPr lang="en-GB" sz="2200" dirty="0" smtClean="0"/>
              <a:t>Consider Age hours above 72hours only.</a:t>
            </a:r>
          </a:p>
          <a:p>
            <a:pPr marL="0" indent="0">
              <a:buNone/>
            </a:pPr>
            <a:endParaRPr lang="en-GB" sz="2400" b="1" dirty="0" smtClean="0"/>
          </a:p>
          <a:p>
            <a:endParaRPr lang="en-GB" sz="2400" b="1" dirty="0"/>
          </a:p>
          <a:p>
            <a:endParaRPr lang="en-GB" sz="2400" b="1" dirty="0"/>
          </a:p>
          <a:p>
            <a:endParaRPr lang="en-GB" sz="2200" dirty="0" smtClean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67327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880100" cy="701675"/>
          </a:xfrm>
        </p:spPr>
        <p:txBody>
          <a:bodyPr>
            <a:noAutofit/>
          </a:bodyPr>
          <a:lstStyle/>
          <a:p>
            <a:r>
              <a:rPr lang="en-GB" sz="2800" b="1" dirty="0" smtClean="0"/>
              <a:t>Parameters for Scheduling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3325"/>
            <a:ext cx="10515600" cy="5229748"/>
          </a:xfrm>
        </p:spPr>
        <p:txBody>
          <a:bodyPr>
            <a:normAutofit/>
          </a:bodyPr>
          <a:lstStyle/>
          <a:p>
            <a:r>
              <a:rPr lang="en-GB" sz="3200" b="1" dirty="0" smtClean="0"/>
              <a:t>For NGOFP </a:t>
            </a:r>
            <a:r>
              <a:rPr lang="en-GB" sz="3200" b="1" dirty="0"/>
              <a:t>Product </a:t>
            </a:r>
            <a:r>
              <a:rPr lang="en-GB" sz="3200" b="1" dirty="0" smtClean="0"/>
              <a:t>:</a:t>
            </a:r>
          </a:p>
          <a:p>
            <a:endParaRPr lang="en-GB" sz="2400" b="1" dirty="0" smtClean="0"/>
          </a:p>
          <a:p>
            <a:endParaRPr lang="en-GB" sz="2400" b="1" dirty="0"/>
          </a:p>
          <a:p>
            <a:endParaRPr lang="en-GB" sz="2400" b="1" dirty="0"/>
          </a:p>
          <a:p>
            <a:endParaRPr lang="en-GB" sz="2200" dirty="0" smtClean="0"/>
          </a:p>
          <a:p>
            <a:endParaRPr lang="en-IN" sz="2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661077"/>
              </p:ext>
            </p:extLst>
          </p:nvPr>
        </p:nvGraphicFramePr>
        <p:xfrm>
          <a:off x="1063138" y="1850316"/>
          <a:ext cx="7736617" cy="3216535"/>
        </p:xfrm>
        <a:graphic>
          <a:graphicData uri="http://schemas.openxmlformats.org/drawingml/2006/table">
            <a:tbl>
              <a:tblPr/>
              <a:tblGrid>
                <a:gridCol w="991874">
                  <a:extLst>
                    <a:ext uri="{9D8B030D-6E8A-4147-A177-3AD203B41FA5}">
                      <a16:colId xmlns:a16="http://schemas.microsoft.com/office/drawing/2014/main" val="1935363871"/>
                    </a:ext>
                  </a:extLst>
                </a:gridCol>
                <a:gridCol w="774607">
                  <a:extLst>
                    <a:ext uri="{9D8B030D-6E8A-4147-A177-3AD203B41FA5}">
                      <a16:colId xmlns:a16="http://schemas.microsoft.com/office/drawing/2014/main" val="31787346"/>
                    </a:ext>
                  </a:extLst>
                </a:gridCol>
                <a:gridCol w="746267">
                  <a:extLst>
                    <a:ext uri="{9D8B030D-6E8A-4147-A177-3AD203B41FA5}">
                      <a16:colId xmlns:a16="http://schemas.microsoft.com/office/drawing/2014/main" val="786645239"/>
                    </a:ext>
                  </a:extLst>
                </a:gridCol>
                <a:gridCol w="746267">
                  <a:extLst>
                    <a:ext uri="{9D8B030D-6E8A-4147-A177-3AD203B41FA5}">
                      <a16:colId xmlns:a16="http://schemas.microsoft.com/office/drawing/2014/main" val="3067056967"/>
                    </a:ext>
                  </a:extLst>
                </a:gridCol>
                <a:gridCol w="746267">
                  <a:extLst>
                    <a:ext uri="{9D8B030D-6E8A-4147-A177-3AD203B41FA5}">
                      <a16:colId xmlns:a16="http://schemas.microsoft.com/office/drawing/2014/main" val="3426244227"/>
                    </a:ext>
                  </a:extLst>
                </a:gridCol>
                <a:gridCol w="746267">
                  <a:extLst>
                    <a:ext uri="{9D8B030D-6E8A-4147-A177-3AD203B41FA5}">
                      <a16:colId xmlns:a16="http://schemas.microsoft.com/office/drawing/2014/main" val="1003233421"/>
                    </a:ext>
                  </a:extLst>
                </a:gridCol>
                <a:gridCol w="746267">
                  <a:extLst>
                    <a:ext uri="{9D8B030D-6E8A-4147-A177-3AD203B41FA5}">
                      <a16:colId xmlns:a16="http://schemas.microsoft.com/office/drawing/2014/main" val="1291961194"/>
                    </a:ext>
                  </a:extLst>
                </a:gridCol>
                <a:gridCol w="746267">
                  <a:extLst>
                    <a:ext uri="{9D8B030D-6E8A-4147-A177-3AD203B41FA5}">
                      <a16:colId xmlns:a16="http://schemas.microsoft.com/office/drawing/2014/main" val="3826120739"/>
                    </a:ext>
                  </a:extLst>
                </a:gridCol>
                <a:gridCol w="746267">
                  <a:extLst>
                    <a:ext uri="{9D8B030D-6E8A-4147-A177-3AD203B41FA5}">
                      <a16:colId xmlns:a16="http://schemas.microsoft.com/office/drawing/2014/main" val="2839821979"/>
                    </a:ext>
                  </a:extLst>
                </a:gridCol>
                <a:gridCol w="746267">
                  <a:extLst>
                    <a:ext uri="{9D8B030D-6E8A-4147-A177-3AD203B41FA5}">
                      <a16:colId xmlns:a16="http://schemas.microsoft.com/office/drawing/2014/main" val="2531985771"/>
                    </a:ext>
                  </a:extLst>
                </a:gridCol>
              </a:tblGrid>
              <a:tr h="333654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effectLst/>
                          <a:latin typeface="Arial" panose="020B0604020202020204" pitchFamily="34" charset="0"/>
                        </a:rPr>
                        <a:t>Silicon </a:t>
                      </a:r>
                      <a:r>
                        <a:rPr lang="en-US" sz="1200" b="1" i="0" u="none" strike="noStrike" dirty="0" err="1">
                          <a:effectLst/>
                          <a:latin typeface="Arial" panose="020B0604020202020204" pitchFamily="34" charset="0"/>
                        </a:rPr>
                        <a:t>Grdae</a:t>
                      </a:r>
                      <a:r>
                        <a:rPr lang="en-US" sz="1200" b="1" i="0" u="none" strike="noStrike" dirty="0">
                          <a:effectLst/>
                          <a:latin typeface="Arial" panose="020B0604020202020204" pitchFamily="34" charset="0"/>
                        </a:rPr>
                        <a:t> with welding combination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09064"/>
                  </a:ext>
                </a:extLst>
              </a:tr>
              <a:tr h="25938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 Silicon %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0.45 %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0.9 %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1.3 %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1.55 %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1.7 %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2 %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2.2 %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2.6 %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599516"/>
                  </a:ext>
                </a:extLst>
              </a:tr>
              <a:tr h="25938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Grades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LSQ2L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MSQ1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MSQ2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MSQ3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HSQ1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HSQ2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HSQ3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HSQ5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683944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Grades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 Silicon %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012057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LSQ2L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0.45 %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288506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MSQ1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0.9 %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353224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MSQ2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1.3 %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279517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MSQ3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1.55 %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384943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HSQ1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1.7 %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797963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HSQ2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2 %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528858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HSQ3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2.2 %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23706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effectLst/>
                          <a:latin typeface="Calibri" panose="020F0502020204030204" pitchFamily="34" charset="0"/>
                        </a:rPr>
                        <a:t>HSQ5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2.6 %  Max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231399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838199" y="365125"/>
            <a:ext cx="7111701" cy="70167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smtClean="0"/>
              <a:t>Scheduling Rules 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3721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592" y="515733"/>
            <a:ext cx="10515600" cy="1022612"/>
          </a:xfrm>
          <a:solidFill>
            <a:srgbClr val="0070C0"/>
          </a:solidFill>
        </p:spPr>
        <p:txBody>
          <a:bodyPr/>
          <a:lstStyle/>
          <a:p>
            <a:r>
              <a:rPr lang="en-US" dirty="0" smtClean="0"/>
              <a:t>NGOFF SAMPLE PLAN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212555"/>
          <a:ext cx="10515600" cy="3577478"/>
        </p:xfrm>
        <a:graphic>
          <a:graphicData uri="http://schemas.openxmlformats.org/drawingml/2006/table">
            <a:tbl>
              <a:tblPr/>
              <a:tblGrid>
                <a:gridCol w="166783">
                  <a:extLst>
                    <a:ext uri="{9D8B030D-6E8A-4147-A177-3AD203B41FA5}">
                      <a16:colId xmlns:a16="http://schemas.microsoft.com/office/drawing/2014/main" val="2284385677"/>
                    </a:ext>
                  </a:extLst>
                </a:gridCol>
                <a:gridCol w="717162">
                  <a:extLst>
                    <a:ext uri="{9D8B030D-6E8A-4147-A177-3AD203B41FA5}">
                      <a16:colId xmlns:a16="http://schemas.microsoft.com/office/drawing/2014/main" val="2757757493"/>
                    </a:ext>
                  </a:extLst>
                </a:gridCol>
                <a:gridCol w="400275">
                  <a:extLst>
                    <a:ext uri="{9D8B030D-6E8A-4147-A177-3AD203B41FA5}">
                      <a16:colId xmlns:a16="http://schemas.microsoft.com/office/drawing/2014/main" val="1886137927"/>
                    </a:ext>
                  </a:extLst>
                </a:gridCol>
                <a:gridCol w="525362">
                  <a:extLst>
                    <a:ext uri="{9D8B030D-6E8A-4147-A177-3AD203B41FA5}">
                      <a16:colId xmlns:a16="http://schemas.microsoft.com/office/drawing/2014/main" val="1351815217"/>
                    </a:ext>
                  </a:extLst>
                </a:gridCol>
                <a:gridCol w="225155">
                  <a:extLst>
                    <a:ext uri="{9D8B030D-6E8A-4147-A177-3AD203B41FA5}">
                      <a16:colId xmlns:a16="http://schemas.microsoft.com/office/drawing/2014/main" val="3344336415"/>
                    </a:ext>
                  </a:extLst>
                </a:gridCol>
                <a:gridCol w="283529">
                  <a:extLst>
                    <a:ext uri="{9D8B030D-6E8A-4147-A177-3AD203B41FA5}">
                      <a16:colId xmlns:a16="http://schemas.microsoft.com/office/drawing/2014/main" val="3294009315"/>
                    </a:ext>
                  </a:extLst>
                </a:gridCol>
                <a:gridCol w="450310">
                  <a:extLst>
                    <a:ext uri="{9D8B030D-6E8A-4147-A177-3AD203B41FA5}">
                      <a16:colId xmlns:a16="http://schemas.microsoft.com/office/drawing/2014/main" val="638402665"/>
                    </a:ext>
                  </a:extLst>
                </a:gridCol>
                <a:gridCol w="625431">
                  <a:extLst>
                    <a:ext uri="{9D8B030D-6E8A-4147-A177-3AD203B41FA5}">
                      <a16:colId xmlns:a16="http://schemas.microsoft.com/office/drawing/2014/main" val="2415392404"/>
                    </a:ext>
                  </a:extLst>
                </a:gridCol>
                <a:gridCol w="183459">
                  <a:extLst>
                    <a:ext uri="{9D8B030D-6E8A-4147-A177-3AD203B41FA5}">
                      <a16:colId xmlns:a16="http://schemas.microsoft.com/office/drawing/2014/main" val="1623148383"/>
                    </a:ext>
                  </a:extLst>
                </a:gridCol>
                <a:gridCol w="191801">
                  <a:extLst>
                    <a:ext uri="{9D8B030D-6E8A-4147-A177-3AD203B41FA5}">
                      <a16:colId xmlns:a16="http://schemas.microsoft.com/office/drawing/2014/main" val="2997534679"/>
                    </a:ext>
                  </a:extLst>
                </a:gridCol>
                <a:gridCol w="283529">
                  <a:extLst>
                    <a:ext uri="{9D8B030D-6E8A-4147-A177-3AD203B41FA5}">
                      <a16:colId xmlns:a16="http://schemas.microsoft.com/office/drawing/2014/main" val="49155921"/>
                    </a:ext>
                  </a:extLst>
                </a:gridCol>
                <a:gridCol w="266852">
                  <a:extLst>
                    <a:ext uri="{9D8B030D-6E8A-4147-A177-3AD203B41FA5}">
                      <a16:colId xmlns:a16="http://schemas.microsoft.com/office/drawing/2014/main" val="4066149744"/>
                    </a:ext>
                  </a:extLst>
                </a:gridCol>
                <a:gridCol w="1842938">
                  <a:extLst>
                    <a:ext uri="{9D8B030D-6E8A-4147-A177-3AD203B41FA5}">
                      <a16:colId xmlns:a16="http://schemas.microsoft.com/office/drawing/2014/main" val="1662720312"/>
                    </a:ext>
                  </a:extLst>
                </a:gridCol>
                <a:gridCol w="667128">
                  <a:extLst>
                    <a:ext uri="{9D8B030D-6E8A-4147-A177-3AD203B41FA5}">
                      <a16:colId xmlns:a16="http://schemas.microsoft.com/office/drawing/2014/main" val="3549549973"/>
                    </a:ext>
                  </a:extLst>
                </a:gridCol>
                <a:gridCol w="341904">
                  <a:extLst>
                    <a:ext uri="{9D8B030D-6E8A-4147-A177-3AD203B41FA5}">
                      <a16:colId xmlns:a16="http://schemas.microsoft.com/office/drawing/2014/main" val="2982848238"/>
                    </a:ext>
                  </a:extLst>
                </a:gridCol>
                <a:gridCol w="742180">
                  <a:extLst>
                    <a:ext uri="{9D8B030D-6E8A-4147-A177-3AD203B41FA5}">
                      <a16:colId xmlns:a16="http://schemas.microsoft.com/office/drawing/2014/main" val="3456173492"/>
                    </a:ext>
                  </a:extLst>
                </a:gridCol>
                <a:gridCol w="291870">
                  <a:extLst>
                    <a:ext uri="{9D8B030D-6E8A-4147-A177-3AD203B41FA5}">
                      <a16:colId xmlns:a16="http://schemas.microsoft.com/office/drawing/2014/main" val="3028460093"/>
                    </a:ext>
                  </a:extLst>
                </a:gridCol>
                <a:gridCol w="408614">
                  <a:extLst>
                    <a:ext uri="{9D8B030D-6E8A-4147-A177-3AD203B41FA5}">
                      <a16:colId xmlns:a16="http://schemas.microsoft.com/office/drawing/2014/main" val="638717915"/>
                    </a:ext>
                  </a:extLst>
                </a:gridCol>
                <a:gridCol w="366922">
                  <a:extLst>
                    <a:ext uri="{9D8B030D-6E8A-4147-A177-3AD203B41FA5}">
                      <a16:colId xmlns:a16="http://schemas.microsoft.com/office/drawing/2014/main" val="755401638"/>
                    </a:ext>
                  </a:extLst>
                </a:gridCol>
                <a:gridCol w="416956">
                  <a:extLst>
                    <a:ext uri="{9D8B030D-6E8A-4147-A177-3AD203B41FA5}">
                      <a16:colId xmlns:a16="http://schemas.microsoft.com/office/drawing/2014/main" val="1017750135"/>
                    </a:ext>
                  </a:extLst>
                </a:gridCol>
                <a:gridCol w="441973">
                  <a:extLst>
                    <a:ext uri="{9D8B030D-6E8A-4147-A177-3AD203B41FA5}">
                      <a16:colId xmlns:a16="http://schemas.microsoft.com/office/drawing/2014/main" val="371588152"/>
                    </a:ext>
                  </a:extLst>
                </a:gridCol>
                <a:gridCol w="283529">
                  <a:extLst>
                    <a:ext uri="{9D8B030D-6E8A-4147-A177-3AD203B41FA5}">
                      <a16:colId xmlns:a16="http://schemas.microsoft.com/office/drawing/2014/main" val="2537323685"/>
                    </a:ext>
                  </a:extLst>
                </a:gridCol>
                <a:gridCol w="391938">
                  <a:extLst>
                    <a:ext uri="{9D8B030D-6E8A-4147-A177-3AD203B41FA5}">
                      <a16:colId xmlns:a16="http://schemas.microsoft.com/office/drawing/2014/main" val="1437376009"/>
                    </a:ext>
                  </a:extLst>
                </a:gridCol>
              </a:tblGrid>
              <a:tr h="425294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+A1:W26I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08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8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8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8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Loc</a:t>
                      </a:r>
                      <a:endParaRPr lang="en-IN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08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9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9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9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HR Coil No</a:t>
                      </a:r>
                      <a:endParaRPr lang="en-IN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9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Thk</a:t>
                      </a:r>
                      <a:endParaRPr lang="en-IN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Wdt</a:t>
                      </a:r>
                      <a:endParaRPr lang="en-IN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Wgt</a:t>
                      </a:r>
                      <a:endParaRPr lang="en-IN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CR Coil No</a:t>
                      </a:r>
                      <a:endParaRPr lang="en-IN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Age Hours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Status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Cust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1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1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Ord Crgrade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1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1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1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Silicon %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1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Grade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Edge Condth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Ord Wdth Min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1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1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1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Ord Wdth Max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1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Routing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Product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Taget Width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Next Work Center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1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1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1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270941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8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hrpo</a:t>
                      </a:r>
                      <a:endParaRPr lang="en-IN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9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26319455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1150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17.89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6879850000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86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TW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8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Metalman Auto Pvt Ltd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JVPTR14AJS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1150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1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1170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TU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HRPO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1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915256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7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hrpo</a:t>
                      </a:r>
                      <a:endParaRPr lang="en-IN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26616451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1150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21.08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6880050000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 MI SUBCON PUNE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JVPDM1AAJ0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1150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1170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TU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HRPO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721675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08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8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8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08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1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68H00075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1140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18.73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6876250000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0.1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59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6712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TW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Unplanned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MSQ3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1.62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JVHEMC1D00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1135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1139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1140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723453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8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107/2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68H00037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1081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17.38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6880310000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-0.1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-104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2871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HSQ3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2.22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JVHEHC1H00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1070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1076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1081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055924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F0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F0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CC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F0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EXIT YARD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F0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68H00056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1185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14.66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6871780000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0.7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80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664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Marubeni Itochu Steel India PVT. LT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HSQ1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1.74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JVHEHA1H00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DT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1150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1151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TBQAZ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1185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264479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0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F0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7102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0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67H00122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1105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18.035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6789180000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-0.7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1486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TW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HSQ3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2.24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JVHEHC1A00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1115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1121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1105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25935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068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68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2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68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8012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068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67H00129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8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1105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17.995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6793630000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0.7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906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TW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HSQ1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1.8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JVHEHA1H00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1104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1105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762908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C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C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68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C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1102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C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67H00119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1105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17.97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6791290000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-0.7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-121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1486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TW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HSQ3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2.24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JVHEHC1A00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1115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1121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1105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742701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0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C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604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0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68H00082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1226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18.805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6876110000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0.1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41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1984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Vijya Manufacturing CO. PVT. Ltd .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HSQ1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1.73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JVHEHA1H00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DT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1205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1206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TBQAZ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1226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056609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109/2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68H00071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1185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20.08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6880300000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1294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Unplanned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0.65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JVHELC1DH0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1170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1174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1185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49719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4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4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1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4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EXIT YARD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4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68H00113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1065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19.04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6880260000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3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469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LSQ2L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JVHELC2HT0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1048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1065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626499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8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8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4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8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308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8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68H00054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v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1062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14.86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6876170000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-29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525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TW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LSQ2L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JVHELC2HT0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1048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1062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625267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E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E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8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E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1022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E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26067222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4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4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20.06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4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6880250000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590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Unplanned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JVHELC2DT0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635373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2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2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E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2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202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2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26069712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4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20.28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6880240000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469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LSQ2L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JVHELC2HT0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1048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876123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6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6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2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6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104/2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6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26069706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20.105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6880330000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469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LSQ2L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JVHELC2HT0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1048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604681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C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C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6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C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C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26068577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19.21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6880220000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525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LSQ2L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JVHELC2T00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1048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63819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F4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F4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C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F4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804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F4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26068566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19.195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6877240000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525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Tempel Precision Metal Products Ind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LSQ2L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JVHELC2T00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DT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1030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1031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TBQAZ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1067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570470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19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06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6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F4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6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3092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06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26068579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19.175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6880230000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525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LSQ2L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JVHELC2T00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1048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850087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0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6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705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0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26068563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19.07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6877230000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525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Tempel Precision Metal Products Ind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LSQ2L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JVHELC2T00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DT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1030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1031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TBQAZ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1067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764165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04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4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4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EXIT YARD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04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26068582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18.725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6875080000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525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TW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LSQ2L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JVHELC2T00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1048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137860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09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9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4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9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103/2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09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26068564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18.33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6880320000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525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TA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LSQ2L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JVHELC2T00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1048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576071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18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18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9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18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110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018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26069701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3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17.175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6876230000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469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TW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LSQ2L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JVHELC2T00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1048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606786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03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3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18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3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EXIT YARD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03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26068585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1091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15.305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6875090000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4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4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-0.1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4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-149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524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TW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Service Center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LSQ2L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0.53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JVHELC2HT0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1048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B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1054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1057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804202"/>
                  </a:ext>
                </a:extLst>
              </a:tr>
              <a:tr h="13134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25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02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2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3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2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210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02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26062051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1240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21.09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B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6876420000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4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2.7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1240</a:t>
                      </a:r>
                      <a:endParaRPr lang="en-IN" sz="5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A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849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0A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5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TW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50B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JSW-ACL Unplanned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MSQ2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A9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1.37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JVHEMB1D00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0B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AF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HT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A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1218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1222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TBQAK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D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B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NGO FP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C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1226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A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800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BAF</a:t>
                      </a:r>
                      <a:endParaRPr lang="en-IN" sz="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0B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BE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B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6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1804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1103</Words>
  <Application>Microsoft Office PowerPoint</Application>
  <PresentationFormat>Widescreen</PresentationFormat>
  <Paragraphs>727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inherit</vt:lpstr>
      <vt:lpstr>Office Theme</vt:lpstr>
      <vt:lpstr>PowerPoint Presentation</vt:lpstr>
      <vt:lpstr>Step 2: Apply filter &amp; in Product (select HRPO/HRSPO/NGOFP)</vt:lpstr>
      <vt:lpstr>Step 3: Select Act Path &amp; Prev Unit</vt:lpstr>
      <vt:lpstr>Step 5: Copy the Data &amp; paste in Plan sheet</vt:lpstr>
      <vt:lpstr>Step 6: Delete all unwanted columns </vt:lpstr>
      <vt:lpstr>PowerPoint Presentation</vt:lpstr>
      <vt:lpstr>Step 8: Only TA &amp; TW</vt:lpstr>
      <vt:lpstr>Delete these selected rows, from order status column</vt:lpstr>
      <vt:lpstr>Step 10: From Receiving remarks, Select drop down arrow &amp; select only APL7</vt:lpstr>
      <vt:lpstr>Step 11: Copy &amp; paste in a separate excel sheet</vt:lpstr>
      <vt:lpstr>Step 12: Paste the Copied APL7 list in APL7 sheet</vt:lpstr>
      <vt:lpstr>Step 13: Delete the APL7 list in PLAN sheet</vt:lpstr>
      <vt:lpstr>Step 14: Final Schedule data</vt:lpstr>
      <vt:lpstr>Scheduling Rules :</vt:lpstr>
      <vt:lpstr>Parameters for Scheduling</vt:lpstr>
      <vt:lpstr>NGOFF SAMPLE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Manjunatha Hiremathada</dc:creator>
  <cp:lastModifiedBy>Jyotirmaya Pradhan</cp:lastModifiedBy>
  <cp:revision>19</cp:revision>
  <dcterms:created xsi:type="dcterms:W3CDTF">2026-08-20T13:21:10Z</dcterms:created>
  <dcterms:modified xsi:type="dcterms:W3CDTF">2026-08-22T12:56:56Z</dcterms:modified>
</cp:coreProperties>
</file>